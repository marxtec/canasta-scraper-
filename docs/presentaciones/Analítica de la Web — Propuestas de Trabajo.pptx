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Play"/>
      <p:regular r:id="rId17"/>
      <p:bold r:id="rId18"/>
    </p:embeddedFont>
    <p:embeddedFont>
      <p:font typeface="Outfit"/>
      <p:regular r:id="rId19"/>
      <p:bold r:id="rId20"/>
    </p:embeddedFont>
    <p:embeddedFont>
      <p:font typeface="Outfit SemiBold"/>
      <p:regular r:id="rId21"/>
      <p:bold r:id="rId22"/>
    </p:embeddedFont>
    <p:embeddedFont>
      <p:font typeface="Outfit Medium"/>
      <p:regular r:id="rId23"/>
      <p:bold r:id="rId24"/>
    </p:embeddedFont>
    <p:embeddedFont>
      <p:font typeface="Changa One"/>
      <p:regular r:id="rId25"/>
      <p: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utfit-bold.fntdata"/><Relationship Id="rId22" Type="http://schemas.openxmlformats.org/officeDocument/2006/relationships/font" Target="fonts/OutfitSemiBold-bold.fntdata"/><Relationship Id="rId21" Type="http://schemas.openxmlformats.org/officeDocument/2006/relationships/font" Target="fonts/OutfitSemiBold-regular.fntdata"/><Relationship Id="rId24" Type="http://schemas.openxmlformats.org/officeDocument/2006/relationships/font" Target="fonts/OutfitMedium-bold.fntdata"/><Relationship Id="rId23" Type="http://schemas.openxmlformats.org/officeDocument/2006/relationships/font" Target="fonts/Outfit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hangaOne-italic.fntdata"/><Relationship Id="rId25" Type="http://schemas.openxmlformats.org/officeDocument/2006/relationships/font" Target="fonts/ChangaOn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-regular.fntdata"/><Relationship Id="rId16" Type="http://schemas.openxmlformats.org/officeDocument/2006/relationships/slide" Target="slides/slide11.xml"/><Relationship Id="rId19" Type="http://schemas.openxmlformats.org/officeDocument/2006/relationships/font" Target="fonts/Outfit-regular.fntdata"/><Relationship Id="rId1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8a71d1e4d_1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f8a71d1e4d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8a71d1e4d_1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8a71d1e4d_1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8a71d1e4d_1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f8a71d1e4d_1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8a71d1e4d_1_1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8a71d1e4d_1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8a71d1e4d_1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f8a71d1e4d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8a71d1e4d_1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f8a71d1e4d_1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8a6634271_0_59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g3f8a6634271_0_59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Propuesta 3. Fuentes operativas verificadas: gob.pe publica el acceso al Portal de Datos Abiertos del OECE para descargar bases de datos de contrataciones registradas en SEACE; el RNP mantiene consultas de proveedores sancionados por el Tribunal de Contrataciones. Riesgo: verificar disponibilidad de postores perdedores para grafo de co-bidding; si no existe, pivotar a red comprador-proveedor. Literatura 2020+: Lyra et al. 2022; García Rodríguez et al. 2022; Tas 2024; Salazar et al. 2024; Schneider dos Santos et al. 2025.</a:t>
            </a:r>
            <a:endParaRPr/>
          </a:p>
        </p:txBody>
      </p:sp>
      <p:sp>
        <p:nvSpPr>
          <p:cNvPr id="223" name="Google Shape;223;g3f8a6634271_0_59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8a6634271_0_3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g3f8a6634271_0_3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Propuesta 1. Fuentes operativas verificadas: DIGEMID informa que el Observatorio de Precios de Medicamentos contiene más de 16 mil productos y más de 30 mil farmacias/boticas/establecimientos autorizados; DIGEMID también publica Indicadores nacionales de precios referenciales descargables en Excel. Literatura académica 2020+: Joosse et al. 2023; Larkin et al. 2022; Quispe Mamani et al. 2023; Cortez et al. 2023; van Baal &amp; Strang 2024.</a:t>
            </a:r>
            <a:endParaRPr/>
          </a:p>
        </p:txBody>
      </p:sp>
      <p:sp>
        <p:nvSpPr>
          <p:cNvPr id="265" name="Google Shape;265;g3f8a6634271_0_3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3"/>
          <p:cNvCxnSpPr/>
          <p:nvPr/>
        </p:nvCxnSpPr>
        <p:spPr>
          <a:xfrm>
            <a:off x="502920" y="6446520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5DC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13"/>
          <p:cNvSpPr txBox="1"/>
          <p:nvPr>
            <p:ph idx="12" type="sldNum"/>
          </p:nvPr>
        </p:nvSpPr>
        <p:spPr>
          <a:xfrm>
            <a:off x="11475720" y="6519672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62708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62708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62708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62708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62708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62708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62708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62708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62708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15.png"/><Relationship Id="rId13" Type="http://schemas.openxmlformats.org/officeDocument/2006/relationships/image" Target="../media/image11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5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7" name="Google Shape;8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 txBox="1"/>
          <p:nvPr/>
        </p:nvSpPr>
        <p:spPr>
          <a:xfrm>
            <a:off x="2609925" y="2968525"/>
            <a:ext cx="7191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E3A32"/>
                </a:solidFill>
                <a:latin typeface="Changa One"/>
                <a:ea typeface="Changa One"/>
                <a:cs typeface="Changa One"/>
                <a:sym typeface="Changa One"/>
              </a:rPr>
              <a:t>Propuestas de trabajo</a:t>
            </a:r>
            <a:endParaRPr/>
          </a:p>
        </p:txBody>
      </p:sp>
      <p:sp>
        <p:nvSpPr>
          <p:cNvPr id="89" name="Google Shape;89;p14"/>
          <p:cNvSpPr/>
          <p:nvPr/>
        </p:nvSpPr>
        <p:spPr>
          <a:xfrm>
            <a:off x="5829300" y="3651795"/>
            <a:ext cx="533400" cy="38100"/>
          </a:xfrm>
          <a:prstGeom prst="roundRect">
            <a:avLst>
              <a:gd fmla="val 50000" name="adj"/>
            </a:avLst>
          </a:prstGeom>
          <a:solidFill>
            <a:srgbClr val="82AB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5029200" y="3880395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6B6B"/>
                </a:solidFill>
                <a:latin typeface="Outfit"/>
                <a:ea typeface="Outfit"/>
                <a:cs typeface="Outfit"/>
                <a:sym typeface="Outfit"/>
              </a:rPr>
              <a:t>Curso: </a:t>
            </a:r>
            <a:r>
              <a:rPr b="1" i="0" lang="en-US" sz="1400" u="none" cap="none" strike="noStrike">
                <a:solidFill>
                  <a:srgbClr val="6B6B6B"/>
                </a:solidFill>
                <a:latin typeface="Outfit"/>
                <a:ea typeface="Outfit"/>
                <a:cs typeface="Outfit"/>
                <a:sym typeface="Outfit"/>
              </a:rPr>
              <a:t>Analítica de la Web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4733925" y="4451895"/>
            <a:ext cx="2724150" cy="447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Johao Mendoza · Marx Rojas · Joyssie Rivas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82ABA1"/>
                </a:solidFill>
                <a:latin typeface="Outfit Medium"/>
                <a:ea typeface="Outfit Medium"/>
                <a:cs typeface="Outfit Medium"/>
                <a:sym typeface="Outfit Medium"/>
              </a:rPr>
              <a:t> Universidad del Pacífico · </a:t>
            </a:r>
            <a:r>
              <a:rPr b="1" i="0" lang="en-US" sz="1100" u="none" cap="none" strike="noStrike">
                <a:solidFill>
                  <a:srgbClr val="82ABA1"/>
                </a:solidFill>
                <a:latin typeface="Outfit"/>
                <a:ea typeface="Outfit"/>
                <a:cs typeface="Outfit"/>
                <a:sym typeface="Outfit"/>
              </a:rPr>
              <a:t>2026-II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11563350" y="6477000"/>
            <a:ext cx="1714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" u="none" cap="none" strike="noStrike">
                <a:solidFill>
                  <a:srgbClr val="82ABA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00</a:t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 rotWithShape="1">
          <a:blip r:embed="rId4">
            <a:alphaModFix/>
          </a:blip>
          <a:srcRect b="14450" l="5400" r="5051" t="12123"/>
          <a:stretch/>
        </p:blipFill>
        <p:spPr>
          <a:xfrm>
            <a:off x="777425" y="657100"/>
            <a:ext cx="3387349" cy="112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/>
          <p:nvPr/>
        </p:nvSpPr>
        <p:spPr>
          <a:xfrm>
            <a:off x="7966769" y="0"/>
            <a:ext cx="3345300" cy="4373700"/>
          </a:xfrm>
          <a:prstGeom prst="roundRect">
            <a:avLst>
              <a:gd fmla="val 16667" name="adj"/>
            </a:avLst>
          </a:prstGeom>
          <a:solidFill>
            <a:srgbClr val="82AB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7969875" y="3294875"/>
            <a:ext cx="3345300" cy="3732300"/>
          </a:xfrm>
          <a:prstGeom prst="roundRect">
            <a:avLst>
              <a:gd fmla="val 16667" name="adj"/>
            </a:avLst>
          </a:prstGeom>
          <a:solidFill>
            <a:srgbClr val="BECF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5197259"/>
            <a:ext cx="5825431" cy="84742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609600" y="2027775"/>
            <a:ext cx="6340800" cy="26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D2D2D"/>
                </a:solidFill>
                <a:latin typeface="Outfit"/>
                <a:ea typeface="Outfit"/>
                <a:cs typeface="Outfit"/>
                <a:sym typeface="Outfit"/>
              </a:rPr>
              <a:t>Los sistemas de reclutamiento tradicionales se basan en CVs y perfiles autodeclarados, sin verificar si una habilidad como </a:t>
            </a:r>
            <a:r>
              <a:rPr b="0" i="0" lang="en-US" u="none" cap="none" strike="noStrike">
                <a:solidFill>
                  <a:srgbClr val="1E3A3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Python</a:t>
            </a:r>
            <a:r>
              <a:rPr b="0" i="0" lang="en-US" u="none" cap="none" strike="noStrike">
                <a:solidFill>
                  <a:srgbClr val="2D2D2D"/>
                </a:solidFill>
                <a:latin typeface="Outfit"/>
                <a:ea typeface="Outfit"/>
                <a:cs typeface="Outfit"/>
                <a:sym typeface="Outfit"/>
              </a:rPr>
              <a:t> o </a:t>
            </a:r>
            <a:r>
              <a:rPr b="0" i="0" lang="en-US" u="none" cap="none" strike="noStrike">
                <a:solidFill>
                  <a:srgbClr val="1E3A3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Machine Learning</a:t>
            </a:r>
            <a:r>
              <a:rPr b="0" i="0" lang="en-US" u="none" cap="none" strike="noStrike">
                <a:solidFill>
                  <a:srgbClr val="2D2D2D"/>
                </a:solidFill>
                <a:latin typeface="Outfit"/>
                <a:ea typeface="Outfit"/>
                <a:cs typeface="Outfit"/>
                <a:sym typeface="Outfit"/>
              </a:rPr>
              <a:t> se aplica realmente en proyectos de IA. </a:t>
            </a:r>
            <a:b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2D2D2D"/>
                </a:solidFill>
                <a:latin typeface="Outfit"/>
                <a:ea typeface="Outfit"/>
                <a:cs typeface="Outfit"/>
                <a:sym typeface="Outfit"/>
              </a:rPr>
              <a:t> Esta propuesta recurre a </a:t>
            </a:r>
            <a:r>
              <a:rPr b="0" i="0" lang="en-US" u="none" cap="none" strike="noStrike">
                <a:solidFill>
                  <a:srgbClr val="1E3A3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fuentes no tradicionales</a:t>
            </a:r>
            <a:r>
              <a:rPr b="0" i="0" lang="en-US" u="none" cap="none" strike="noStrike">
                <a:solidFill>
                  <a:srgbClr val="2D2D2D"/>
                </a:solidFill>
                <a:latin typeface="Outfit"/>
                <a:ea typeface="Outfit"/>
                <a:cs typeface="Outfit"/>
                <a:sym typeface="Outfit"/>
              </a:rPr>
              <a:t> —repositorios de GitHub, blogs técnicos, actividad de la comunidad dev— para construir un dashboard con el </a:t>
            </a:r>
            <a:r>
              <a:rPr b="0" i="0" lang="en-US" u="none" cap="none" strike="noStrike">
                <a:solidFill>
                  <a:srgbClr val="1E3A3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top 5 de perfiles</a:t>
            </a:r>
            <a:r>
              <a:rPr b="0" i="0" lang="en-US" u="none" cap="none" strike="noStrike">
                <a:solidFill>
                  <a:srgbClr val="2D2D2D"/>
                </a:solidFill>
                <a:latin typeface="Outfit"/>
                <a:ea typeface="Outfit"/>
                <a:cs typeface="Outfit"/>
                <a:sym typeface="Outfit"/>
              </a:rPr>
              <a:t> más cercanos a una demanda tech/IA específica, con un </a:t>
            </a:r>
            <a:r>
              <a:rPr b="0" i="0" lang="en-US" u="none" cap="none" strike="noStrike">
                <a:solidFill>
                  <a:srgbClr val="1E3A3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score de proximidad</a:t>
            </a:r>
            <a:r>
              <a:rPr b="0" i="0" lang="en-US" u="none" cap="none" strike="noStrike">
                <a:solidFill>
                  <a:srgbClr val="2D2D2D"/>
                </a:solidFill>
                <a:latin typeface="Outfit"/>
                <a:ea typeface="Outfit"/>
                <a:cs typeface="Outfit"/>
                <a:sym typeface="Outfit"/>
              </a:rPr>
              <a:t> basado en evidencia técnica real: frameworks de IA usados, actividad en commits y originalidad del código</a:t>
            </a:r>
            <a:r>
              <a:rPr b="0" i="0" lang="en-US" u="none" cap="none" strike="noStrike">
                <a:solidFill>
                  <a:srgbClr val="2D2D2D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>
              <a:solidFill>
                <a:srgbClr val="2D2D2D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just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>
              <a:solidFill>
                <a:srgbClr val="2D2D2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838200" y="5369487"/>
            <a:ext cx="54063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99" u="none" cap="none" strike="noStrike">
                <a:solidFill>
                  <a:srgbClr val="2D2D2D"/>
                </a:solidFill>
                <a:latin typeface="Outfit"/>
                <a:ea typeface="Outfit"/>
                <a:cs typeface="Outfit"/>
                <a:sym typeface="Outfit"/>
              </a:rPr>
              <a:t>"Los README, lenguajes y bibliotecas declarados son útiles, pero insuficientes para medir experiencia real."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38200" y="5768462"/>
            <a:ext cx="5406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2ABA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— Hauff &amp; Gousios, 2015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09600" y="1007523"/>
            <a:ext cx="109728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2ABA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PROPUESTA 1 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09600" y="1180638"/>
            <a:ext cx="950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E3A32"/>
                </a:solidFill>
                <a:latin typeface="Changa One"/>
                <a:ea typeface="Changa One"/>
                <a:cs typeface="Changa One"/>
                <a:sym typeface="Changa One"/>
              </a:rPr>
              <a:t>TALENT ANALYTIC TECH/IA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609600" y="1674598"/>
            <a:ext cx="533400" cy="38100"/>
          </a:xfrm>
          <a:prstGeom prst="roundRect">
            <a:avLst>
              <a:gd fmla="val 50000" name="adj"/>
            </a:avLst>
          </a:prstGeom>
          <a:solidFill>
            <a:srgbClr val="82AB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11601450" y="6477000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" u="none" cap="none" strike="noStrike">
                <a:solidFill>
                  <a:srgbClr val="82ABA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01</a:t>
            </a:r>
            <a:endParaRPr/>
          </a:p>
        </p:txBody>
      </p:sp>
      <p:pic>
        <p:nvPicPr>
          <p:cNvPr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34513" r="32131" t="0"/>
          <a:stretch/>
        </p:blipFill>
        <p:spPr>
          <a:xfrm>
            <a:off x="7917984" y="580549"/>
            <a:ext cx="3345313" cy="5464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/>
          <p:cNvPicPr preferRelativeResize="0"/>
          <p:nvPr/>
        </p:nvPicPr>
        <p:blipFill rotWithShape="1">
          <a:blip r:embed="rId5">
            <a:alphaModFix/>
          </a:blip>
          <a:srcRect b="14450" l="5400" r="5051" t="12123"/>
          <a:stretch/>
        </p:blipFill>
        <p:spPr>
          <a:xfrm>
            <a:off x="609600" y="403825"/>
            <a:ext cx="1397125" cy="46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175" y="5188263"/>
            <a:ext cx="10972800" cy="541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1961290"/>
            <a:ext cx="3543300" cy="26940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4350" y="1961290"/>
            <a:ext cx="3543300" cy="26940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9100" y="1961290"/>
            <a:ext cx="3543300" cy="26940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0100" y="212321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800100" y="2504215"/>
            <a:ext cx="3190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2ABA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BASES DE DATOS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00100" y="2694715"/>
            <a:ext cx="3190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3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Fuentes de información</a:t>
            </a:r>
            <a:endParaRPr/>
          </a:p>
        </p:txBody>
      </p:sp>
      <p:pic>
        <p:nvPicPr>
          <p:cNvPr descr="image.png" id="121" name="Google Shape;12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14850" y="212321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4514850" y="2504215"/>
            <a:ext cx="3190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2ABA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TÉCNICAS TENTATIVAS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4514850" y="2694715"/>
            <a:ext cx="3190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3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Métodos a aplicar</a:t>
            </a:r>
            <a:endParaRPr/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29600" y="212321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8229600" y="2504215"/>
            <a:ext cx="3190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2ABA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REFERENCIAS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229600" y="2694715"/>
            <a:ext cx="3190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3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Papers y trabajos similares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74175" y="5331139"/>
            <a:ext cx="260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3A32"/>
                </a:solidFill>
                <a:latin typeface="Changa One"/>
                <a:ea typeface="Changa One"/>
                <a:cs typeface="Changa One"/>
                <a:sym typeface="Changa One"/>
              </a:rPr>
              <a:t>420M+</a:t>
            </a:r>
            <a:endParaRPr sz="1800"/>
          </a:p>
        </p:txBody>
      </p:sp>
      <p:sp>
        <p:nvSpPr>
          <p:cNvPr id="128" name="Google Shape;128;p16"/>
          <p:cNvSpPr txBox="1"/>
          <p:nvPr/>
        </p:nvSpPr>
        <p:spPr>
          <a:xfrm>
            <a:off x="674175" y="5686631"/>
            <a:ext cx="2600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Outfit"/>
                <a:ea typeface="Outfit"/>
                <a:cs typeface="Outfit"/>
                <a:sym typeface="Outfit"/>
              </a:rPr>
              <a:t>Repositorios públicos en GitHub (</a:t>
            </a:r>
            <a:r>
              <a:rPr b="1" i="0" lang="en-US" sz="900" u="none" cap="none" strike="noStrike">
                <a:solidFill>
                  <a:srgbClr val="6B6B6B"/>
                </a:solidFill>
                <a:latin typeface="Outfit"/>
                <a:ea typeface="Outfit"/>
                <a:cs typeface="Outfit"/>
                <a:sym typeface="Outfit"/>
              </a:rPr>
              <a:t>2026</a:t>
            </a:r>
            <a:r>
              <a:rPr b="0" i="0" lang="en-US" sz="900" u="none" cap="none" strike="noStrike">
                <a:solidFill>
                  <a:srgbClr val="6B6B6B"/>
                </a:solidFill>
                <a:latin typeface="Outfit"/>
                <a:ea typeface="Outfit"/>
                <a:cs typeface="Outfit"/>
                <a:sym typeface="Outfit"/>
              </a:rPr>
              <a:t>)</a:t>
            </a:r>
            <a:endParaRPr sz="1500"/>
          </a:p>
        </p:txBody>
      </p:sp>
      <p:sp>
        <p:nvSpPr>
          <p:cNvPr id="129" name="Google Shape;129;p16"/>
          <p:cNvSpPr txBox="1"/>
          <p:nvPr/>
        </p:nvSpPr>
        <p:spPr>
          <a:xfrm>
            <a:off x="3465000" y="5331139"/>
            <a:ext cx="260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3A32"/>
                </a:solidFill>
                <a:latin typeface="Changa One"/>
                <a:ea typeface="Changa One"/>
                <a:cs typeface="Changa One"/>
                <a:sym typeface="Changa One"/>
              </a:rPr>
              <a:t>~2.5M</a:t>
            </a:r>
            <a:endParaRPr sz="1800"/>
          </a:p>
        </p:txBody>
      </p:sp>
      <p:sp>
        <p:nvSpPr>
          <p:cNvPr id="130" name="Google Shape;130;p16"/>
          <p:cNvSpPr txBox="1"/>
          <p:nvPr/>
        </p:nvSpPr>
        <p:spPr>
          <a:xfrm>
            <a:off x="3465000" y="5686631"/>
            <a:ext cx="2600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Outfit"/>
                <a:ea typeface="Outfit"/>
                <a:cs typeface="Outfit"/>
                <a:sym typeface="Outfit"/>
              </a:rPr>
              <a:t>Eventos/día en GH Archive (commits, PRs, issues)</a:t>
            </a:r>
            <a:endParaRPr sz="1500"/>
          </a:p>
        </p:txBody>
      </p:sp>
      <p:sp>
        <p:nvSpPr>
          <p:cNvPr id="131" name="Google Shape;131;p16"/>
          <p:cNvSpPr txBox="1"/>
          <p:nvPr/>
        </p:nvSpPr>
        <p:spPr>
          <a:xfrm>
            <a:off x="6255825" y="5331139"/>
            <a:ext cx="260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3A32"/>
                </a:solidFill>
                <a:latin typeface="Changa One"/>
                <a:ea typeface="Changa One"/>
                <a:cs typeface="Changa One"/>
                <a:sym typeface="Changa One"/>
              </a:rPr>
              <a:t>6M</a:t>
            </a:r>
            <a:endParaRPr sz="1800"/>
          </a:p>
        </p:txBody>
      </p:sp>
      <p:sp>
        <p:nvSpPr>
          <p:cNvPr id="132" name="Google Shape;132;p16"/>
          <p:cNvSpPr txBox="1"/>
          <p:nvPr/>
        </p:nvSpPr>
        <p:spPr>
          <a:xfrm>
            <a:off x="6255825" y="5686631"/>
            <a:ext cx="2600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Outfit"/>
                <a:ea typeface="Outfit"/>
                <a:cs typeface="Outfit"/>
                <a:sym typeface="Outfit"/>
              </a:rPr>
              <a:t>Funciones de código en CodeSearchNet</a:t>
            </a:r>
            <a:endParaRPr sz="1500"/>
          </a:p>
        </p:txBody>
      </p:sp>
      <p:sp>
        <p:nvSpPr>
          <p:cNvPr id="133" name="Google Shape;133;p16"/>
          <p:cNvSpPr txBox="1"/>
          <p:nvPr/>
        </p:nvSpPr>
        <p:spPr>
          <a:xfrm>
            <a:off x="9046650" y="5331139"/>
            <a:ext cx="260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3A32"/>
                </a:solidFill>
                <a:latin typeface="Changa One"/>
                <a:ea typeface="Changa One"/>
                <a:cs typeface="Changa One"/>
                <a:sym typeface="Changa One"/>
              </a:rPr>
              <a:t>29.8K</a:t>
            </a:r>
            <a:endParaRPr sz="1800"/>
          </a:p>
        </p:txBody>
      </p:sp>
      <p:sp>
        <p:nvSpPr>
          <p:cNvPr id="134" name="Google Shape;134;p16"/>
          <p:cNvSpPr txBox="1"/>
          <p:nvPr/>
        </p:nvSpPr>
        <p:spPr>
          <a:xfrm>
            <a:off x="9046650" y="5686631"/>
            <a:ext cx="2600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6B6B"/>
                </a:solidFill>
                <a:latin typeface="Outfit"/>
                <a:ea typeface="Outfit"/>
                <a:cs typeface="Outfit"/>
                <a:sym typeface="Outfit"/>
              </a:rPr>
              <a:t>Conversaciones dev–IA documentadas en DevGPT</a:t>
            </a:r>
            <a:endParaRPr sz="1500"/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0587" y="2205666"/>
            <a:ext cx="123825" cy="139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800100" y="2980465"/>
            <a:ext cx="3190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E3A3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Repositorios GitHub</a:t>
            </a:r>
            <a:r>
              <a:rPr b="0" i="0" lang="en-US" sz="800" u="none" cap="none" strike="noStrike">
                <a:solidFill>
                  <a:srgbClr val="6B6B6B"/>
                </a:solidFill>
                <a:latin typeface="Outfit"/>
                <a:ea typeface="Outfit"/>
                <a:cs typeface="Outfit"/>
                <a:sym typeface="Outfit"/>
              </a:rPr>
              <a:t> — código y actividad real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800100" y="3155784"/>
            <a:ext cx="3190800" cy="96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800100" y="3203409"/>
            <a:ext cx="3190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E3A3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Blogs y foros técnicos</a:t>
            </a:r>
            <a:r>
              <a:rPr b="0" i="0" lang="en-US" sz="800" u="none" cap="none" strike="noStrike">
                <a:solidFill>
                  <a:srgbClr val="6B6B6B"/>
                </a:solidFill>
                <a:latin typeface="Outfit"/>
                <a:ea typeface="Outfit"/>
                <a:cs typeface="Outfit"/>
                <a:sym typeface="Outfit"/>
              </a:rPr>
              <a:t> (Medium, Dev.to) — señales de expertise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800100" y="3378729"/>
            <a:ext cx="3190800" cy="96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800100" y="3426354"/>
            <a:ext cx="3190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E3A3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GH Archive</a:t>
            </a:r>
            <a:r>
              <a:rPr b="0" i="0" lang="en-US" sz="800" u="none" cap="none" strike="noStrike">
                <a:solidFill>
                  <a:srgbClr val="6B6B6B"/>
                </a:solidFill>
                <a:latin typeface="Outfit"/>
                <a:ea typeface="Outfit"/>
                <a:cs typeface="Outfit"/>
                <a:sym typeface="Outfit"/>
              </a:rPr>
              <a:t> — actividad histórica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800100" y="3601673"/>
            <a:ext cx="3190800" cy="96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800100" y="3649298"/>
            <a:ext cx="3190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E3A3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ESCO / O*NET</a:t>
            </a:r>
            <a:r>
              <a:rPr b="0" i="0" lang="en-US" sz="800" u="none" cap="none" strike="noStrike">
                <a:solidFill>
                  <a:srgbClr val="6B6B6B"/>
                </a:solidFill>
                <a:latin typeface="Outfit"/>
                <a:ea typeface="Outfit"/>
                <a:cs typeface="Outfit"/>
                <a:sym typeface="Outfit"/>
              </a:rPr>
              <a:t> — taxonomía de skills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800100" y="3824618"/>
            <a:ext cx="3190800" cy="96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800100" y="3872243"/>
            <a:ext cx="3190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E3A3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CodeSearchNet</a:t>
            </a:r>
            <a:r>
              <a:rPr b="0" i="0" lang="en-US" sz="800" u="none" cap="none" strike="noStrike">
                <a:solidFill>
                  <a:srgbClr val="6B6B6B"/>
                </a:solidFill>
                <a:latin typeface="Outfit"/>
                <a:ea typeface="Outfit"/>
                <a:cs typeface="Outfit"/>
                <a:sym typeface="Outfit"/>
              </a:rPr>
              <a:t> — código + docs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800100" y="4047562"/>
            <a:ext cx="3190800" cy="96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800100" y="4095187"/>
            <a:ext cx="3190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E3A3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BigCloneBench / CodeXGLUE</a:t>
            </a:r>
            <a:r>
              <a:rPr b="0" i="0" lang="en-US" sz="800" u="none" cap="none" strike="noStrike">
                <a:solidFill>
                  <a:srgbClr val="6B6B6B"/>
                </a:solidFill>
                <a:latin typeface="Outfit"/>
                <a:ea typeface="Outfit"/>
                <a:cs typeface="Outfit"/>
                <a:sym typeface="Outfit"/>
              </a:rPr>
              <a:t> — clones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800100" y="4270507"/>
            <a:ext cx="3190800" cy="96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800100" y="4318132"/>
            <a:ext cx="3190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E3A3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DevGPT</a:t>
            </a:r>
            <a:r>
              <a:rPr b="0" i="0" lang="en-US" sz="800" u="none" cap="none" strike="noStrike">
                <a:solidFill>
                  <a:srgbClr val="6B6B6B"/>
                </a:solidFill>
                <a:latin typeface="Outfit"/>
                <a:ea typeface="Outfit"/>
                <a:cs typeface="Outfit"/>
                <a:sym typeface="Outfit"/>
              </a:rPr>
              <a:t> — uso real de IA</a:t>
            </a:r>
            <a:endParaRPr/>
          </a:p>
        </p:txBody>
      </p:sp>
      <p:pic>
        <p:nvPicPr>
          <p:cNvPr descr="image.png" id="149" name="Google Shape;149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91050" y="2205666"/>
            <a:ext cx="152400" cy="13974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4514850" y="2980465"/>
            <a:ext cx="31908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E3A3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Web scraping</a:t>
            </a:r>
            <a:r>
              <a:rPr b="0" i="0" lang="en-US" sz="800" u="none" cap="none" strike="noStrike">
                <a:solidFill>
                  <a:srgbClr val="6B6B6B"/>
                </a:solidFill>
                <a:latin typeface="Outfit"/>
                <a:ea typeface="Outfit"/>
                <a:cs typeface="Outfit"/>
                <a:sym typeface="Outfit"/>
              </a:rPr>
              <a:t> (BeautifulSoup/Scrapy) — repos de GitHub y blogs técnicos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4514850" y="3293004"/>
            <a:ext cx="3190800" cy="96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4514850" y="3340629"/>
            <a:ext cx="3190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E3A3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GitHub API</a:t>
            </a:r>
            <a:r>
              <a:rPr b="0" i="0" lang="en-US" sz="800" u="none" cap="none" strike="noStrike">
                <a:solidFill>
                  <a:srgbClr val="6B6B6B"/>
                </a:solidFill>
                <a:latin typeface="Outfit"/>
                <a:ea typeface="Outfit"/>
                <a:cs typeface="Outfit"/>
                <a:sym typeface="Outfit"/>
              </a:rPr>
              <a:t> — complemento estructurado: commits, PRs, metadata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4514850" y="3515948"/>
            <a:ext cx="3190800" cy="96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4514850" y="3563573"/>
            <a:ext cx="3190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E3A3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TF-IDF/BM25 + coseno</a:t>
            </a:r>
            <a:r>
              <a:rPr b="0" i="0" lang="en-US" sz="800" u="none" cap="none" strike="noStrike">
                <a:solidFill>
                  <a:srgbClr val="6B6B6B"/>
                </a:solidFill>
                <a:latin typeface="Outfit"/>
                <a:ea typeface="Outfit"/>
                <a:cs typeface="Outfit"/>
                <a:sym typeface="Outfit"/>
              </a:rPr>
              <a:t> — matching baseline</a:t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4514850" y="3738893"/>
            <a:ext cx="3190800" cy="96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4514850" y="3786518"/>
            <a:ext cx="3190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E3A3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Sentence-BERT</a:t>
            </a:r>
            <a:r>
              <a:rPr b="0" i="0" lang="en-US" sz="800" u="none" cap="none" strike="noStrike">
                <a:solidFill>
                  <a:srgbClr val="6B6B6B"/>
                </a:solidFill>
                <a:latin typeface="Outfit"/>
                <a:ea typeface="Outfit"/>
                <a:cs typeface="Outfit"/>
                <a:sym typeface="Outfit"/>
              </a:rPr>
              <a:t> — matching semántico</a:t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4514850" y="3961837"/>
            <a:ext cx="3190800" cy="96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4514850" y="4009462"/>
            <a:ext cx="3190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E3A3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CodeBERT / GraphCodeBERT</a:t>
            </a:r>
            <a:r>
              <a:rPr b="0" i="0" lang="en-US" sz="800" u="none" cap="none" strike="noStrike">
                <a:solidFill>
                  <a:srgbClr val="6B6B6B"/>
                </a:solidFill>
                <a:latin typeface="Outfit"/>
                <a:ea typeface="Outfit"/>
                <a:cs typeface="Outfit"/>
                <a:sym typeface="Outfit"/>
              </a:rPr>
              <a:t> — similitud de código</a:t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4514850" y="4184782"/>
            <a:ext cx="3190800" cy="96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4514850" y="4232407"/>
            <a:ext cx="3190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E3A32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XGBoost / Random Forest</a:t>
            </a:r>
            <a:r>
              <a:rPr b="0" i="0" lang="en-US" sz="800" u="none" cap="none" strike="noStrike">
                <a:solidFill>
                  <a:srgbClr val="6B6B6B"/>
                </a:solidFill>
                <a:latin typeface="Outfit"/>
                <a:ea typeface="Outfit"/>
                <a:cs typeface="Outfit"/>
                <a:sym typeface="Outfit"/>
              </a:rPr>
              <a:t> — score final</a:t>
            </a:r>
            <a:endParaRPr/>
          </a:p>
        </p:txBody>
      </p:sp>
      <p:pic>
        <p:nvPicPr>
          <p:cNvPr descr="image.png" id="161" name="Google Shape;161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20087" y="2205666"/>
            <a:ext cx="123825" cy="13974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8229600" y="2980475"/>
            <a:ext cx="3098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1E3A32"/>
                </a:solidFill>
                <a:latin typeface="Outfit"/>
                <a:ea typeface="Outfit"/>
                <a:cs typeface="Outfit"/>
                <a:sym typeface="Outfit"/>
              </a:rPr>
              <a:t>Vaishampayan et al., 2025</a:t>
            </a:r>
            <a:r>
              <a:rPr lang="en-US" sz="850">
                <a:solidFill>
                  <a:srgbClr val="6B6B6B"/>
                </a:solidFill>
                <a:latin typeface="Outfit"/>
                <a:ea typeface="Outfit"/>
                <a:cs typeface="Outfit"/>
                <a:sym typeface="Outfit"/>
              </a:rPr>
              <a:t> — GitMeter: evidencia técnica de GitHub para hiring</a:t>
            </a:r>
            <a:endParaRPr sz="800">
              <a:solidFill>
                <a:srgbClr val="1E3A32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8229600" y="3290528"/>
            <a:ext cx="3190800" cy="96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8229600" y="3351375"/>
            <a:ext cx="31908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1E3A32"/>
                </a:solidFill>
                <a:latin typeface="Outfit"/>
                <a:ea typeface="Outfit"/>
                <a:cs typeface="Outfit"/>
                <a:sym typeface="Outfit"/>
              </a:rPr>
              <a:t>Liang et al. 2022 + Ferreira et al. 2024</a:t>
            </a:r>
            <a:r>
              <a:rPr lang="en-US" sz="850">
                <a:solidFill>
                  <a:srgbClr val="6B6B6B"/>
                </a:solidFill>
                <a:latin typeface="Outfit"/>
                <a:ea typeface="Outfit"/>
                <a:cs typeface="Outfit"/>
                <a:sym typeface="Outfit"/>
              </a:rPr>
              <a:t> — minería de habilidades OSS y data science</a:t>
            </a:r>
            <a:endParaRPr b="1" sz="750">
              <a:solidFill>
                <a:srgbClr val="1E3A3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8218050" y="4123800"/>
            <a:ext cx="31908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1E3A32"/>
                </a:solidFill>
                <a:latin typeface="Outfit"/>
                <a:ea typeface="Outfit"/>
                <a:cs typeface="Outfit"/>
                <a:sym typeface="Outfit"/>
              </a:rPr>
              <a:t>Luo, 2024</a:t>
            </a:r>
            <a:r>
              <a:rPr lang="en-US" sz="850">
                <a:solidFill>
                  <a:srgbClr val="6B6B6B"/>
                </a:solidFill>
                <a:latin typeface="Outfit"/>
                <a:ea typeface="Outfit"/>
                <a:cs typeface="Outfit"/>
                <a:sym typeface="Outfit"/>
              </a:rPr>
              <a:t> — reportes de scouting + estadísticas para predecir talento (NHL)</a:t>
            </a:r>
            <a:endParaRPr sz="800">
              <a:solidFill>
                <a:srgbClr val="1E3A32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8229600" y="3734050"/>
            <a:ext cx="31908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1E3A32"/>
                </a:solidFill>
                <a:latin typeface="Outfit"/>
                <a:ea typeface="Outfit"/>
                <a:cs typeface="Outfit"/>
                <a:sym typeface="Outfit"/>
              </a:rPr>
              <a:t>Belova et al. 2019 + Noroozi Fakhabi et al. 2024</a:t>
            </a:r>
            <a:r>
              <a:rPr lang="en-US" sz="850">
                <a:solidFill>
                  <a:srgbClr val="6B6B6B"/>
                </a:solidFill>
                <a:latin typeface="Outfit"/>
                <a:ea typeface="Outfit"/>
                <a:cs typeface="Outfit"/>
                <a:sym typeface="Outfit"/>
              </a:rPr>
              <a:t> — scouting multimodal en e-sports</a:t>
            </a:r>
            <a:endParaRPr b="1" sz="850">
              <a:solidFill>
                <a:srgbClr val="1E3A3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8229600" y="4071290"/>
            <a:ext cx="3190800" cy="96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800100" y="3155784"/>
            <a:ext cx="3190800" cy="96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800100" y="3378729"/>
            <a:ext cx="3190800" cy="96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800100" y="3601673"/>
            <a:ext cx="3190800" cy="96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800100" y="3824618"/>
            <a:ext cx="3190800" cy="96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800100" y="4047562"/>
            <a:ext cx="3190800" cy="96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800100" y="4270507"/>
            <a:ext cx="3190800" cy="96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4514850" y="3293004"/>
            <a:ext cx="3190800" cy="96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4514850" y="3515948"/>
            <a:ext cx="3190800" cy="96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4514850" y="3738893"/>
            <a:ext cx="3190800" cy="96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4514850" y="3961837"/>
            <a:ext cx="3190800" cy="96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4514850" y="4184782"/>
            <a:ext cx="3190800" cy="96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8229600" y="3699200"/>
            <a:ext cx="3190800" cy="96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>
            <a:off x="609600" y="619125"/>
            <a:ext cx="109728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2ABA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PROPUESTA 1 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609600" y="893963"/>
            <a:ext cx="950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3A32"/>
                </a:solidFill>
                <a:latin typeface="Changa One"/>
                <a:ea typeface="Changa One"/>
                <a:cs typeface="Changa One"/>
                <a:sym typeface="Changa One"/>
              </a:rPr>
              <a:t>¿</a:t>
            </a:r>
            <a:r>
              <a:rPr lang="en-US" sz="2400">
                <a:solidFill>
                  <a:srgbClr val="1E3A32"/>
                </a:solidFill>
                <a:latin typeface="Changa One"/>
                <a:ea typeface="Changa One"/>
                <a:cs typeface="Changa One"/>
                <a:sym typeface="Changa One"/>
              </a:rPr>
              <a:t>Cuáles son los insumos necesarios</a:t>
            </a:r>
            <a:r>
              <a:rPr b="0" i="0" lang="en-US" sz="2400" u="none" cap="none" strike="noStrike">
                <a:solidFill>
                  <a:srgbClr val="1E3A32"/>
                </a:solidFill>
                <a:latin typeface="Changa One"/>
                <a:ea typeface="Changa One"/>
                <a:cs typeface="Changa One"/>
                <a:sym typeface="Changa One"/>
              </a:rPr>
              <a:t>?</a:t>
            </a:r>
            <a:endParaRPr/>
          </a:p>
        </p:txBody>
      </p:sp>
      <p:sp>
        <p:nvSpPr>
          <p:cNvPr id="182" name="Google Shape;182;p16"/>
          <p:cNvSpPr/>
          <p:nvPr/>
        </p:nvSpPr>
        <p:spPr>
          <a:xfrm>
            <a:off x="609600" y="1312515"/>
            <a:ext cx="533400" cy="38100"/>
          </a:xfrm>
          <a:prstGeom prst="roundRect">
            <a:avLst>
              <a:gd fmla="val 50000" name="adj"/>
            </a:avLst>
          </a:prstGeom>
          <a:solidFill>
            <a:srgbClr val="82AB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11582400" y="6477000"/>
            <a:ext cx="30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" u="none" cap="none" strike="noStrike">
                <a:solidFill>
                  <a:srgbClr val="82ABA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0</a:t>
            </a:r>
            <a:r>
              <a:rPr lang="en-US" sz="999">
                <a:solidFill>
                  <a:srgbClr val="82ABA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2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674175" y="4986962"/>
            <a:ext cx="540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2ABA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VOLUMEN DE DATOS APROXIMADO</a:t>
            </a:r>
            <a:endParaRPr sz="1500"/>
          </a:p>
        </p:txBody>
      </p:sp>
      <p:pic>
        <p:nvPicPr>
          <p:cNvPr id="185" name="Google Shape;185;p16"/>
          <p:cNvPicPr preferRelativeResize="0"/>
          <p:nvPr/>
        </p:nvPicPr>
        <p:blipFill rotWithShape="1">
          <a:blip r:embed="rId13">
            <a:alphaModFix/>
          </a:blip>
          <a:srcRect b="14450" l="5400" r="5051" t="12123"/>
          <a:stretch/>
        </p:blipFill>
        <p:spPr>
          <a:xfrm>
            <a:off x="609600" y="403825"/>
            <a:ext cx="1397125" cy="46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1" cy="592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11650135" cy="6553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550" y="121763"/>
            <a:ext cx="12192000" cy="661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11650135" cy="6553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93231"/>
            <a:ext cx="12191999" cy="6576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8793"/>
            <a:ext cx="11887201" cy="6480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199" cy="6432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00" y="152397"/>
            <a:ext cx="12191999" cy="6591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1" cy="6456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75823"/>
            <a:ext cx="12192000" cy="6611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/>
          <p:nvPr/>
        </p:nvSpPr>
        <p:spPr>
          <a:xfrm>
            <a:off x="566926" y="521322"/>
            <a:ext cx="11149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33F"/>
              </a:buClr>
              <a:buSzPts val="2200"/>
              <a:buFont typeface="Play"/>
              <a:buNone/>
            </a:pPr>
            <a:r>
              <a:rPr b="1" lang="en-US" sz="2200">
                <a:solidFill>
                  <a:srgbClr val="10233F"/>
                </a:solidFill>
                <a:latin typeface="Play"/>
                <a:ea typeface="Play"/>
                <a:cs typeface="Play"/>
                <a:sym typeface="Play"/>
              </a:rPr>
              <a:t>Redes de proveedores y señales tempranas de riesgo en contrataciones públicas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566928" y="969205"/>
            <a:ext cx="1188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5D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1F7A5D"/>
                </a:solidFill>
                <a:latin typeface="Arial"/>
                <a:ea typeface="Arial"/>
                <a:cs typeface="Arial"/>
                <a:sym typeface="Arial"/>
              </a:rPr>
              <a:t>Idea central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566928" y="1307592"/>
            <a:ext cx="53493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33F"/>
              </a:buClr>
              <a:buSzPts val="1620"/>
              <a:buFont typeface="Arial"/>
              <a:buNone/>
            </a:pPr>
            <a:r>
              <a:rPr b="1" lang="en-US" sz="1620">
                <a:solidFill>
                  <a:srgbClr val="10233F"/>
                </a:solidFill>
                <a:latin typeface="Arial"/>
                <a:ea typeface="Arial"/>
                <a:cs typeface="Arial"/>
                <a:sym typeface="Arial"/>
              </a:rPr>
              <a:t>Usar la huella relacional de la competencia —quién postula con quién, con qué frecuencia y en qué mercados— para priorizar revisiones </a:t>
            </a:r>
            <a:r>
              <a:rPr b="1" lang="en-US" sz="1620">
                <a:solidFill>
                  <a:srgbClr val="10233F"/>
                </a:solidFill>
              </a:rPr>
              <a:t>y validar si las sanciones son realmente efectivas</a:t>
            </a:r>
            <a:endParaRPr sz="16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8" name="Google Shape;228;p23"/>
          <p:cNvCxnSpPr/>
          <p:nvPr/>
        </p:nvCxnSpPr>
        <p:spPr>
          <a:xfrm>
            <a:off x="6099048" y="1078992"/>
            <a:ext cx="0" cy="5212200"/>
          </a:xfrm>
          <a:prstGeom prst="straightConnector1">
            <a:avLst/>
          </a:prstGeom>
          <a:noFill/>
          <a:ln cap="flat" cmpd="sng" w="11425">
            <a:solidFill>
              <a:srgbClr val="CFD7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23"/>
          <p:cNvSpPr/>
          <p:nvPr/>
        </p:nvSpPr>
        <p:spPr>
          <a:xfrm>
            <a:off x="566928" y="2221992"/>
            <a:ext cx="534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5D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1F7A5D"/>
                </a:solidFill>
                <a:latin typeface="Arial"/>
                <a:ea typeface="Arial"/>
                <a:cs typeface="Arial"/>
                <a:sym typeface="Arial"/>
              </a:rPr>
              <a:t>TEMA Y PROBLEMA DE INVESTIGACIÓN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" name="Google Shape;230;p23"/>
          <p:cNvCxnSpPr/>
          <p:nvPr/>
        </p:nvCxnSpPr>
        <p:spPr>
          <a:xfrm>
            <a:off x="566928" y="2441448"/>
            <a:ext cx="5349300" cy="0"/>
          </a:xfrm>
          <a:prstGeom prst="straightConnector1">
            <a:avLst/>
          </a:prstGeom>
          <a:noFill/>
          <a:ln cap="flat" cmpd="sng" w="9525">
            <a:solidFill>
              <a:srgbClr val="CFD7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23"/>
          <p:cNvSpPr/>
          <p:nvPr/>
        </p:nvSpPr>
        <p:spPr>
          <a:xfrm>
            <a:off x="566928" y="2578608"/>
            <a:ext cx="5321700" cy="1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None/>
            </a:pPr>
            <a:r>
              <a:rPr lang="en-US" sz="113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La contratación pública concentra montos altos y recursos de fiscalización limitados. </a:t>
            </a:r>
            <a:r>
              <a:rPr b="1" lang="en-US" sz="113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El problema no es “probar corrupción” con datos abiertos, sino construir señales tempranas para decidir qué procesos revisar primero </a:t>
            </a:r>
            <a:r>
              <a:rPr b="1" lang="en-US" sz="1130">
                <a:solidFill>
                  <a:srgbClr val="111827"/>
                </a:solidFill>
              </a:rPr>
              <a:t>y si estás estructuras persisten al margen de las sanciones</a:t>
            </a:r>
            <a:r>
              <a:rPr b="1" lang="en-US" sz="113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13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La concertación puede dejar patrones: pocos competidores reales, postores que coinciden repetidamente, rotación de ganadores o comunidades cerradas por entidad/sector/región. La tensión académica es clave: ¿la estructura de red predice resultados adversos o solo describe relaciones normales del mercado?</a:t>
            </a:r>
            <a:endParaRPr sz="11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566928" y="4187952"/>
            <a:ext cx="534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5D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1F7A5D"/>
                </a:solidFill>
                <a:latin typeface="Arial"/>
                <a:ea typeface="Arial"/>
                <a:cs typeface="Arial"/>
                <a:sym typeface="Arial"/>
              </a:rPr>
              <a:t>PREGUNTA DE INVESTIGACIÓN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" name="Google Shape;233;p23"/>
          <p:cNvCxnSpPr/>
          <p:nvPr/>
        </p:nvCxnSpPr>
        <p:spPr>
          <a:xfrm>
            <a:off x="566928" y="4407408"/>
            <a:ext cx="5349300" cy="0"/>
          </a:xfrm>
          <a:prstGeom prst="straightConnector1">
            <a:avLst/>
          </a:prstGeom>
          <a:noFill/>
          <a:ln cap="flat" cmpd="sng" w="9525">
            <a:solidFill>
              <a:srgbClr val="CFD7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23"/>
          <p:cNvSpPr/>
          <p:nvPr/>
        </p:nvSpPr>
        <p:spPr>
          <a:xfrm>
            <a:off x="566928" y="4535424"/>
            <a:ext cx="50748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33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0233F"/>
                </a:solidFill>
              </a:rPr>
              <a:t>¿Las sanciones a proveedores desarticulan realmente sus redes competitivas o la estructura de co-participación persiste a través de otros miembros del mismo grupo?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6419088" y="1115568"/>
            <a:ext cx="5120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5D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1F7A5D"/>
                </a:solidFill>
                <a:latin typeface="Arial"/>
                <a:ea typeface="Arial"/>
                <a:cs typeface="Arial"/>
                <a:sym typeface="Arial"/>
              </a:rPr>
              <a:t>INSUMOS: DE DÓNDE SALDRÁ LA INFORMACIÓN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6" name="Google Shape;236;p23"/>
          <p:cNvCxnSpPr/>
          <p:nvPr/>
        </p:nvCxnSpPr>
        <p:spPr>
          <a:xfrm>
            <a:off x="6419088" y="1335024"/>
            <a:ext cx="5120700" cy="0"/>
          </a:xfrm>
          <a:prstGeom prst="straightConnector1">
            <a:avLst/>
          </a:prstGeom>
          <a:noFill/>
          <a:ln cap="flat" cmpd="sng" w="9525">
            <a:solidFill>
              <a:srgbClr val="CFD7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23"/>
          <p:cNvSpPr/>
          <p:nvPr/>
        </p:nvSpPr>
        <p:spPr>
          <a:xfrm>
            <a:off x="6419088" y="1481328"/>
            <a:ext cx="5010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Portal de Datos Abiertos OECE/SEACE y CONOSCE: procedimientos, entidades, montos, rubros y proveedores.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6419088" y="1874520"/>
            <a:ext cx="5010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Registro Nacional de Proveedores y consulta de sancionados/inhabilitados del Tribunal de Contrataciones.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6419088" y="2688336"/>
            <a:ext cx="3337500" cy="228600"/>
          </a:xfrm>
          <a:prstGeom prst="rect">
            <a:avLst/>
          </a:prstGeom>
          <a:solidFill>
            <a:srgbClr val="1F7A5D"/>
          </a:solidFill>
          <a:ln cap="flat" cmpd="sng" w="9525">
            <a:solidFill>
              <a:srgbClr val="1F7A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Arial"/>
              <a:buNone/>
            </a:pPr>
            <a:r>
              <a:rPr b="1" lang="en-US" sz="8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insumo crítico: RUC + procedimiento + postores + outcome adverso (por revisar)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9857232" y="2615184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1F7A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9857232" y="2665476"/>
            <a:ext cx="2742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5D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1F7A5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9779508" y="2944368"/>
            <a:ext cx="429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740"/>
              <a:buFont typeface="Arial"/>
              <a:buNone/>
            </a:pPr>
            <a:r>
              <a:rPr lang="en-US" sz="740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ETL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3" name="Google Shape;243;p23"/>
          <p:cNvCxnSpPr/>
          <p:nvPr/>
        </p:nvCxnSpPr>
        <p:spPr>
          <a:xfrm>
            <a:off x="10232050" y="2761275"/>
            <a:ext cx="217200" cy="1500"/>
          </a:xfrm>
          <a:prstGeom prst="straightConnector1">
            <a:avLst/>
          </a:prstGeom>
          <a:noFill/>
          <a:ln cap="flat" cmpd="sng" w="13950">
            <a:solidFill>
              <a:srgbClr val="CFD7E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4" name="Google Shape;244;p23"/>
          <p:cNvSpPr/>
          <p:nvPr/>
        </p:nvSpPr>
        <p:spPr>
          <a:xfrm>
            <a:off x="10515600" y="2615184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1F7A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10515600" y="2665476"/>
            <a:ext cx="2742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5D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1F7A5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10437876" y="2944368"/>
            <a:ext cx="429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740"/>
              <a:buFont typeface="Arial"/>
              <a:buNone/>
            </a:pPr>
            <a:r>
              <a:rPr lang="en-US" sz="740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grafo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11173968" y="2615184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1F7A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11173968" y="2665476"/>
            <a:ext cx="2742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5D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1F7A5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11096244" y="2944368"/>
            <a:ext cx="429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740"/>
              <a:buFont typeface="Arial"/>
              <a:buNone/>
            </a:pPr>
            <a:r>
              <a:rPr lang="en-US" sz="740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feat.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11832336" y="2615184"/>
            <a:ext cx="274200" cy="274200"/>
          </a:xfrm>
          <a:prstGeom prst="ellipse">
            <a:avLst/>
          </a:prstGeom>
          <a:solidFill>
            <a:srgbClr val="1F7A5D"/>
          </a:solidFill>
          <a:ln cap="flat" cmpd="sng" w="15225">
            <a:solidFill>
              <a:srgbClr val="1F7A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11832336" y="2665476"/>
            <a:ext cx="2742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11754612" y="2944368"/>
            <a:ext cx="429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740"/>
              <a:buFont typeface="Arial"/>
              <a:buNone/>
            </a:pPr>
            <a:r>
              <a:rPr lang="en-US" sz="740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alerta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6419088" y="3419856"/>
            <a:ext cx="5120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5D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1F7A5D"/>
                </a:solidFill>
                <a:latin typeface="Arial"/>
                <a:ea typeface="Arial"/>
                <a:cs typeface="Arial"/>
                <a:sym typeface="Arial"/>
              </a:rPr>
              <a:t>TÉCNICAS QUE SE APLICARÍAN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4" name="Google Shape;254;p23"/>
          <p:cNvCxnSpPr/>
          <p:nvPr/>
        </p:nvCxnSpPr>
        <p:spPr>
          <a:xfrm>
            <a:off x="6419088" y="3639312"/>
            <a:ext cx="5120700" cy="0"/>
          </a:xfrm>
          <a:prstGeom prst="straightConnector1">
            <a:avLst/>
          </a:prstGeom>
          <a:noFill/>
          <a:ln cap="flat" cmpd="sng" w="9525">
            <a:solidFill>
              <a:srgbClr val="CFD7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23"/>
          <p:cNvSpPr/>
          <p:nvPr/>
        </p:nvSpPr>
        <p:spPr>
          <a:xfrm>
            <a:off x="6419088" y="3767328"/>
            <a:ext cx="49836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lang="en-US" sz="105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ETL de CSV/API; limpieza por RUC y entidad; graf</a:t>
            </a:r>
            <a:r>
              <a:rPr lang="en-US" sz="1055">
                <a:solidFill>
                  <a:srgbClr val="111827"/>
                </a:solidFill>
              </a:rPr>
              <a:t>os,</a:t>
            </a:r>
            <a:r>
              <a:rPr lang="en-US" sz="105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; centralidades (PageRank, betweenness), comunidades (Leiden/Louvain) y repetición de co-postulación; features de competencia; modelos logit/árboles/GBM; evaluación AUC/recall@k; explicación SHAP; índice propio IRC como riesgo, no prueba.</a:t>
            </a:r>
            <a:endParaRPr sz="105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6419088" y="4974336"/>
            <a:ext cx="5120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5D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1F7A5D"/>
                </a:solidFill>
                <a:latin typeface="Arial"/>
                <a:ea typeface="Arial"/>
                <a:cs typeface="Arial"/>
                <a:sym typeface="Arial"/>
              </a:rPr>
              <a:t>LITERATURA ACADÉMICA REVISADA Y VALIDADA (2020+)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7" name="Google Shape;257;p23"/>
          <p:cNvCxnSpPr/>
          <p:nvPr/>
        </p:nvCxnSpPr>
        <p:spPr>
          <a:xfrm>
            <a:off x="6419088" y="5193792"/>
            <a:ext cx="5120700" cy="0"/>
          </a:xfrm>
          <a:prstGeom prst="straightConnector1">
            <a:avLst/>
          </a:prstGeom>
          <a:noFill/>
          <a:ln cap="flat" cmpd="sng" w="9525">
            <a:solidFill>
              <a:srgbClr val="CFD7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" name="Google Shape;258;p23"/>
          <p:cNvSpPr/>
          <p:nvPr/>
        </p:nvSpPr>
        <p:spPr>
          <a:xfrm>
            <a:off x="6419100" y="5239487"/>
            <a:ext cx="51207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70"/>
              <a:buFont typeface="Arial"/>
              <a:buNone/>
            </a:pPr>
            <a:r>
              <a:rPr lang="en-US" sz="870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1. Lyra et al. (2022), Applied Network Science, doi:10.1007/s41109-022-00523-6</a:t>
            </a:r>
            <a:br>
              <a:rPr lang="en-US" sz="870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</a:b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70"/>
              <a:buFont typeface="Arial"/>
              <a:buNone/>
            </a:pPr>
            <a:r>
              <a:rPr lang="en-US" sz="870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2. García Rodríguez et al. (2022), Automation in Construction, doi:10.1016/j.autcon.2021.104047</a:t>
            </a:r>
            <a:br>
              <a:rPr lang="en-US" sz="870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</a:b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70"/>
              <a:buFont typeface="Arial"/>
              <a:buNone/>
            </a:pPr>
            <a:r>
              <a:rPr lang="en-US" sz="870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3. Tas (2024), Journal of Computational Social Science, doi:10.1007/s42001-024-00293-4</a:t>
            </a:r>
            <a:br>
              <a:rPr lang="en-US" sz="870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</a:b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70"/>
              <a:buFont typeface="Arial"/>
              <a:buNone/>
            </a:pPr>
            <a:r>
              <a:rPr lang="en-US" sz="870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4. Salazar, Pérez &amp; Gallego (2024), Data &amp; Policy, doi:10.1017/dap.2024.83</a:t>
            </a:r>
            <a:br>
              <a:rPr lang="en-US" sz="870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</a:b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70"/>
              <a:buFont typeface="Arial"/>
              <a:buNone/>
            </a:pPr>
            <a:r>
              <a:rPr lang="en-US" sz="870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5. Schneider dos Santos et al. (2025), EPJ Data Science, doi:10.1140/epjds/s13688-025-00569-3</a:t>
            </a:r>
            <a:br>
              <a:rPr lang="en-US" sz="870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</a:br>
            <a:endParaRPr sz="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502920" y="6519672"/>
            <a:ext cx="6172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710"/>
              <a:buFont typeface="Arial"/>
              <a:buNone/>
            </a:pPr>
            <a:r>
              <a:rPr lang="en-US" sz="710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Fuentes operativas validadas: OECE/SEACE Datos Abiertos + RNP/TCE sancionados.</a:t>
            </a:r>
            <a:endParaRPr sz="7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0" name="Google Shape;260;p23"/>
          <p:cNvCxnSpPr/>
          <p:nvPr/>
        </p:nvCxnSpPr>
        <p:spPr>
          <a:xfrm>
            <a:off x="10873288" y="2751525"/>
            <a:ext cx="217200" cy="1500"/>
          </a:xfrm>
          <a:prstGeom prst="straightConnector1">
            <a:avLst/>
          </a:prstGeom>
          <a:noFill/>
          <a:ln cap="flat" cmpd="sng" w="13950">
            <a:solidFill>
              <a:srgbClr val="CFD7E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1" name="Google Shape;261;p23"/>
          <p:cNvCxnSpPr/>
          <p:nvPr/>
        </p:nvCxnSpPr>
        <p:spPr>
          <a:xfrm>
            <a:off x="11531638" y="2751525"/>
            <a:ext cx="217200" cy="1500"/>
          </a:xfrm>
          <a:prstGeom prst="straightConnector1">
            <a:avLst/>
          </a:prstGeom>
          <a:noFill/>
          <a:ln cap="flat" cmpd="sng" w="13950">
            <a:solidFill>
              <a:srgbClr val="CFD7E6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4"/>
          <p:cNvSpPr/>
          <p:nvPr/>
        </p:nvSpPr>
        <p:spPr>
          <a:xfrm>
            <a:off x="566925" y="720184"/>
            <a:ext cx="10716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33F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10233F"/>
                </a:solidFill>
                <a:latin typeface="Play"/>
                <a:ea typeface="Play"/>
                <a:cs typeface="Play"/>
                <a:sym typeface="Play"/>
              </a:rPr>
              <a:t>Transparencia y </a:t>
            </a:r>
            <a:r>
              <a:rPr b="1" i="0" lang="en-US" sz="2200" u="none" cap="none" strike="noStrike">
                <a:solidFill>
                  <a:srgbClr val="10233F"/>
                </a:solidFill>
                <a:latin typeface="Play"/>
                <a:ea typeface="Play"/>
                <a:cs typeface="Play"/>
                <a:sym typeface="Play"/>
              </a:rPr>
              <a:t>encontrabilidad </a:t>
            </a:r>
            <a:r>
              <a:rPr b="1" i="0" lang="en-US" sz="2200" u="none" cap="none" strike="noStrike">
                <a:solidFill>
                  <a:srgbClr val="10233F"/>
                </a:solidFill>
                <a:latin typeface="Play"/>
                <a:ea typeface="Play"/>
                <a:cs typeface="Play"/>
                <a:sym typeface="Play"/>
              </a:rPr>
              <a:t>web de precios de medicamentos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566928" y="1078992"/>
            <a:ext cx="1188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64A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364AA"/>
                </a:solidFill>
                <a:latin typeface="Arial"/>
                <a:ea typeface="Arial"/>
                <a:cs typeface="Arial"/>
                <a:sym typeface="Arial"/>
              </a:rPr>
              <a:t>Idea central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566928" y="1307592"/>
            <a:ext cx="53493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33F"/>
              </a:buClr>
              <a:buSzPts val="1620"/>
              <a:buFont typeface="Arial"/>
              <a:buNone/>
            </a:pPr>
            <a:r>
              <a:rPr b="1" i="0" lang="en-US" sz="1620" u="none" cap="none" strike="noStrike">
                <a:solidFill>
                  <a:srgbClr val="10233F"/>
                </a:solidFill>
                <a:latin typeface="Arial"/>
                <a:ea typeface="Arial"/>
                <a:cs typeface="Arial"/>
                <a:sym typeface="Arial"/>
              </a:rPr>
              <a:t>No basta con que el precio esté publicado: debe ser comparable, visible y fácil de encontrar para que el paciente realmente pueda elegir la opción más barata.</a:t>
            </a:r>
            <a:endParaRPr b="0" i="0" sz="1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0" name="Google Shape;270;p24"/>
          <p:cNvCxnSpPr/>
          <p:nvPr/>
        </p:nvCxnSpPr>
        <p:spPr>
          <a:xfrm>
            <a:off x="6099048" y="1078992"/>
            <a:ext cx="0" cy="5212200"/>
          </a:xfrm>
          <a:prstGeom prst="straightConnector1">
            <a:avLst/>
          </a:prstGeom>
          <a:noFill/>
          <a:ln cap="flat" cmpd="sng" w="11425">
            <a:solidFill>
              <a:srgbClr val="CFD7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24"/>
          <p:cNvSpPr/>
          <p:nvPr/>
        </p:nvSpPr>
        <p:spPr>
          <a:xfrm>
            <a:off x="566928" y="2221992"/>
            <a:ext cx="534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64A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2364AA"/>
                </a:solidFill>
                <a:latin typeface="Arial"/>
                <a:ea typeface="Arial"/>
                <a:cs typeface="Arial"/>
                <a:sym typeface="Arial"/>
              </a:rPr>
              <a:t>TEMA Y PROBLEMA DE INVESTIGACIÓN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" name="Google Shape;272;p24"/>
          <p:cNvCxnSpPr/>
          <p:nvPr/>
        </p:nvCxnSpPr>
        <p:spPr>
          <a:xfrm>
            <a:off x="566928" y="2441448"/>
            <a:ext cx="5349300" cy="0"/>
          </a:xfrm>
          <a:prstGeom prst="straightConnector1">
            <a:avLst/>
          </a:prstGeom>
          <a:noFill/>
          <a:ln cap="flat" cmpd="sng" w="9525">
            <a:solidFill>
              <a:srgbClr val="CFD7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p24"/>
          <p:cNvSpPr/>
          <p:nvPr/>
        </p:nvSpPr>
        <p:spPr>
          <a:xfrm>
            <a:off x="566928" y="2578608"/>
            <a:ext cx="5321700" cy="13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El gasto de bolsillo en salud golpea más cuando el paciente compra medicamentos de forma repetida, especialmente en tratamientos crónicos. </a:t>
            </a:r>
            <a:r>
              <a:rPr b="1" i="0" lang="en-US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Aunque DIGEMID tiene un Observatorio de Precios, la pregunta práctica es si esa transparencia “llega” al consumidor. </a:t>
            </a:r>
            <a:r>
              <a:rPr b="0" i="0" lang="en-US" sz="113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Para un mismo DCI, concentración y forma farmacéutica, pueden existir diferencias relevantes entre cadenas, boticas independientes y zonas. Si la alternativa barata aparece escondida, mal posicionada o exige demasiados clics, la política pública queda incompleta: hay información, pero no hay encontrabilidad.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566928" y="4187952"/>
            <a:ext cx="534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64A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2364AA"/>
                </a:solidFill>
                <a:latin typeface="Arial"/>
                <a:ea typeface="Arial"/>
                <a:cs typeface="Arial"/>
                <a:sym typeface="Arial"/>
              </a:rPr>
              <a:t>PREGUNTA DE INVESTIGACIÓN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5" name="Google Shape;275;p24"/>
          <p:cNvCxnSpPr/>
          <p:nvPr/>
        </p:nvCxnSpPr>
        <p:spPr>
          <a:xfrm>
            <a:off x="566928" y="4407408"/>
            <a:ext cx="5349300" cy="0"/>
          </a:xfrm>
          <a:prstGeom prst="straightConnector1">
            <a:avLst/>
          </a:prstGeom>
          <a:noFill/>
          <a:ln cap="flat" cmpd="sng" w="9525">
            <a:solidFill>
              <a:srgbClr val="CFD7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6" name="Google Shape;276;p24"/>
          <p:cNvSpPr/>
          <p:nvPr/>
        </p:nvSpPr>
        <p:spPr>
          <a:xfrm>
            <a:off x="566928" y="4535424"/>
            <a:ext cx="50748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33F"/>
              </a:buClr>
              <a:buSzPts val="1310"/>
              <a:buFont typeface="Arial"/>
              <a:buNone/>
            </a:pPr>
            <a:r>
              <a:rPr b="1" i="0" lang="en-US" sz="1310" u="none" cap="none" strike="noStrike">
                <a:solidFill>
                  <a:srgbClr val="10233F"/>
                </a:solidFill>
                <a:latin typeface="Arial"/>
                <a:ea typeface="Arial"/>
                <a:cs typeface="Arial"/>
                <a:sym typeface="Arial"/>
              </a:rPr>
              <a:t>¿En qué medida la información pública de precios reduce la dispersión y mejora la encontrabilidad de las opciones más baratas para medicamentos esenciales en Perú?</a:t>
            </a:r>
            <a:endParaRPr b="0" i="0" sz="13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566928" y="5358384"/>
            <a:ext cx="5230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Subpreguntas: dispersión por medicamento/zona/tipo de botica · ranking web de la opción más barata · concentración de mercado vs. fricción de búsqueda.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6419088" y="1115568"/>
            <a:ext cx="5120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64A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2364AA"/>
                </a:solidFill>
                <a:latin typeface="Arial"/>
                <a:ea typeface="Arial"/>
                <a:cs typeface="Arial"/>
                <a:sym typeface="Arial"/>
              </a:rPr>
              <a:t>INSUMOS: DE DÓNDE SALDRÁ LA INFORMACIÓN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p24"/>
          <p:cNvCxnSpPr/>
          <p:nvPr/>
        </p:nvCxnSpPr>
        <p:spPr>
          <a:xfrm>
            <a:off x="6419088" y="1335024"/>
            <a:ext cx="5120700" cy="0"/>
          </a:xfrm>
          <a:prstGeom prst="straightConnector1">
            <a:avLst/>
          </a:prstGeom>
          <a:noFill/>
          <a:ln cap="flat" cmpd="sng" w="9525">
            <a:solidFill>
              <a:srgbClr val="CFD7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24"/>
          <p:cNvSpPr/>
          <p:nvPr/>
        </p:nvSpPr>
        <p:spPr>
          <a:xfrm>
            <a:off x="6419088" y="1481328"/>
            <a:ext cx="5010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Observatorio Peruano de Productos Farmacéuticos / DIGEMID: precios por producto y establecimiento.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6419088" y="1874520"/>
            <a:ext cx="5010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Indicadores nacionales de precios referenciales de DIGEMID: descarga Excel con medias/medianas/modas.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6419088" y="2267712"/>
            <a:ext cx="5010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Catálogos web de cadenas/boticas y muestreo SERP vía protocolo manual o API oficial.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6419088" y="2688336"/>
            <a:ext cx="3246000" cy="228600"/>
          </a:xfrm>
          <a:prstGeom prst="rect">
            <a:avLst/>
          </a:prstGeom>
          <a:solidFill>
            <a:srgbClr val="2364AA"/>
          </a:solidFill>
          <a:ln cap="flat" cmpd="sng" w="9525">
            <a:solidFill>
              <a:srgbClr val="236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insumo crítico: DCI + dosis + forma + distrito + precio unitario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9857232" y="2615184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236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9857232" y="2665476"/>
            <a:ext cx="2742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64AA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2364A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9779508" y="2944368"/>
            <a:ext cx="429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740"/>
              <a:buFont typeface="Arial"/>
              <a:buNone/>
            </a:pPr>
            <a:r>
              <a:rPr lang="en-US" sz="740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extraer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7" name="Google Shape;287;p24"/>
          <p:cNvCxnSpPr/>
          <p:nvPr/>
        </p:nvCxnSpPr>
        <p:spPr>
          <a:xfrm flipH="1" rot="10800000">
            <a:off x="10239375" y="2788900"/>
            <a:ext cx="203100" cy="5100"/>
          </a:xfrm>
          <a:prstGeom prst="straightConnector1">
            <a:avLst/>
          </a:prstGeom>
          <a:noFill/>
          <a:ln cap="flat" cmpd="sng" w="13950">
            <a:solidFill>
              <a:srgbClr val="CFD7E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8" name="Google Shape;288;p24"/>
          <p:cNvSpPr/>
          <p:nvPr/>
        </p:nvSpPr>
        <p:spPr>
          <a:xfrm>
            <a:off x="10515600" y="2615184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236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4"/>
          <p:cNvSpPr/>
          <p:nvPr/>
        </p:nvSpPr>
        <p:spPr>
          <a:xfrm>
            <a:off x="10515600" y="2665476"/>
            <a:ext cx="2742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64AA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2364A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10437876" y="2944368"/>
            <a:ext cx="429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740"/>
              <a:buFont typeface="Arial"/>
              <a:buNone/>
            </a:pPr>
            <a:r>
              <a:rPr lang="en-US" sz="740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normal.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1" name="Google Shape;291;p24"/>
          <p:cNvCxnSpPr/>
          <p:nvPr/>
        </p:nvCxnSpPr>
        <p:spPr>
          <a:xfrm flipH="1" rot="10800000">
            <a:off x="10917125" y="2788900"/>
            <a:ext cx="183600" cy="5100"/>
          </a:xfrm>
          <a:prstGeom prst="straightConnector1">
            <a:avLst/>
          </a:prstGeom>
          <a:noFill/>
          <a:ln cap="flat" cmpd="sng" w="13950">
            <a:solidFill>
              <a:srgbClr val="CFD7E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2" name="Google Shape;292;p24"/>
          <p:cNvSpPr/>
          <p:nvPr/>
        </p:nvSpPr>
        <p:spPr>
          <a:xfrm>
            <a:off x="11173968" y="2615184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236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11173968" y="2665476"/>
            <a:ext cx="2742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64AA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2364A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11096244" y="2944368"/>
            <a:ext cx="429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740"/>
              <a:buFont typeface="Arial"/>
              <a:buNone/>
            </a:pPr>
            <a:r>
              <a:rPr lang="en-US" sz="740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compar.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5" name="Google Shape;295;p24"/>
          <p:cNvCxnSpPr/>
          <p:nvPr/>
        </p:nvCxnSpPr>
        <p:spPr>
          <a:xfrm flipH="1" rot="10800000">
            <a:off x="11561600" y="2788900"/>
            <a:ext cx="197400" cy="7200"/>
          </a:xfrm>
          <a:prstGeom prst="straightConnector1">
            <a:avLst/>
          </a:prstGeom>
          <a:noFill/>
          <a:ln cap="flat" cmpd="sng" w="13950">
            <a:solidFill>
              <a:srgbClr val="CFD7E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6" name="Google Shape;296;p24"/>
          <p:cNvSpPr/>
          <p:nvPr/>
        </p:nvSpPr>
        <p:spPr>
          <a:xfrm>
            <a:off x="11832336" y="2615184"/>
            <a:ext cx="274200" cy="274200"/>
          </a:xfrm>
          <a:prstGeom prst="ellipse">
            <a:avLst/>
          </a:prstGeom>
          <a:solidFill>
            <a:srgbClr val="2364AA"/>
          </a:solidFill>
          <a:ln cap="flat" cmpd="sng" w="15225">
            <a:solidFill>
              <a:srgbClr val="236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11832336" y="2665476"/>
            <a:ext cx="2742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11754612" y="2944368"/>
            <a:ext cx="429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740"/>
              <a:buFont typeface="Arial"/>
              <a:buNone/>
            </a:pPr>
            <a:r>
              <a:rPr lang="en-US" sz="740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modelar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4"/>
          <p:cNvSpPr/>
          <p:nvPr/>
        </p:nvSpPr>
        <p:spPr>
          <a:xfrm>
            <a:off x="6419088" y="3419856"/>
            <a:ext cx="5120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64AA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2364AA"/>
                </a:solidFill>
                <a:latin typeface="Arial"/>
                <a:ea typeface="Arial"/>
                <a:cs typeface="Arial"/>
                <a:sym typeface="Arial"/>
              </a:rPr>
              <a:t>TÉCNICAS QUE SE APLICARÍAN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" name="Google Shape;300;p24"/>
          <p:cNvCxnSpPr/>
          <p:nvPr/>
        </p:nvCxnSpPr>
        <p:spPr>
          <a:xfrm>
            <a:off x="6419088" y="3639312"/>
            <a:ext cx="5120700" cy="0"/>
          </a:xfrm>
          <a:prstGeom prst="straightConnector1">
            <a:avLst/>
          </a:prstGeom>
          <a:noFill/>
          <a:ln cap="flat" cmpd="sng" w="9525">
            <a:solidFill>
              <a:srgbClr val="CFD7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p24"/>
          <p:cNvSpPr/>
          <p:nvPr/>
        </p:nvSpPr>
        <p:spPr>
          <a:xfrm>
            <a:off x="6419088" y="3767328"/>
            <a:ext cx="49836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5"/>
              <a:buFont typeface="Arial"/>
              <a:buNone/>
            </a:pPr>
            <a:r>
              <a:rPr lang="en-US" sz="105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Scraping/headless para formularios; resolución de entidades para emparejar nombres comerciales con DCI–dosis–forma; precio por unidad; coeficiente de variación/IQR; HHI de concentración por zona; índice propio IEPM = posición de la opción barata + clics/pasos; modelos explicativos (regresión/GBM) y PageRank de dominios de boticas.</a:t>
            </a:r>
            <a:endParaRPr sz="105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4"/>
          <p:cNvSpPr/>
          <p:nvPr/>
        </p:nvSpPr>
        <p:spPr>
          <a:xfrm>
            <a:off x="6419088" y="4974336"/>
            <a:ext cx="5120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64AA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2364AA"/>
                </a:solidFill>
                <a:latin typeface="Arial"/>
                <a:ea typeface="Arial"/>
                <a:cs typeface="Arial"/>
                <a:sym typeface="Arial"/>
              </a:rPr>
              <a:t>LITERATURA ACADÉMICA REVISADA Y VALIDADA (2020+)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3" name="Google Shape;303;p24"/>
          <p:cNvCxnSpPr/>
          <p:nvPr/>
        </p:nvCxnSpPr>
        <p:spPr>
          <a:xfrm>
            <a:off x="6419088" y="5193792"/>
            <a:ext cx="5120700" cy="0"/>
          </a:xfrm>
          <a:prstGeom prst="straightConnector1">
            <a:avLst/>
          </a:prstGeom>
          <a:noFill/>
          <a:ln cap="flat" cmpd="sng" w="9525">
            <a:solidFill>
              <a:srgbClr val="CFD7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24"/>
          <p:cNvSpPr/>
          <p:nvPr/>
        </p:nvSpPr>
        <p:spPr>
          <a:xfrm>
            <a:off x="6419088" y="5285232"/>
            <a:ext cx="51207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04"/>
              <a:buFont typeface="Arial"/>
              <a:buNone/>
            </a:pPr>
            <a:r>
              <a:rPr lang="en-US" sz="805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1. Joosse et al. (2023), Health Policy, doi:10.1016/j.healthpol.2022.11.002</a:t>
            </a:r>
            <a:br>
              <a:rPr lang="en-US" sz="805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</a:br>
            <a:endParaRPr sz="80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04"/>
              <a:buFont typeface="Arial"/>
              <a:buNone/>
            </a:pPr>
            <a:r>
              <a:rPr lang="en-US" sz="805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2. Larkin et al. (2022), Res. Social Adm. Pharm., doi:10.1016/j.sapharm.2022.05.007</a:t>
            </a:r>
            <a:br>
              <a:rPr lang="en-US" sz="805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</a:br>
            <a:endParaRPr sz="80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04"/>
              <a:buFont typeface="Arial"/>
              <a:buNone/>
            </a:pPr>
            <a:r>
              <a:rPr lang="en-US" sz="805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3. Quispe Mamani et al. (2023), IJERPH, doi:10.3390/ijerph20186759</a:t>
            </a:r>
            <a:br>
              <a:rPr lang="en-US" sz="805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</a:br>
            <a:endParaRPr sz="80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04"/>
              <a:buFont typeface="Arial"/>
              <a:buNone/>
            </a:pPr>
            <a:r>
              <a:rPr lang="en-US" sz="805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4. Cortez, Medici &amp; Singh (2023), JLME, doi:10.1017/jme.2023.136</a:t>
            </a:r>
            <a:br>
              <a:rPr lang="en-US" sz="805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</a:br>
            <a:endParaRPr sz="80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804"/>
              <a:buFont typeface="Arial"/>
              <a:buNone/>
            </a:pPr>
            <a:r>
              <a:rPr lang="en-US" sz="805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5. van Baal &amp; Strang (2024), J. Information Economics, doi:10.58567/jie02010003</a:t>
            </a:r>
            <a:br>
              <a:rPr lang="en-US" sz="805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</a:br>
            <a:endParaRPr sz="80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4"/>
          <p:cNvSpPr/>
          <p:nvPr/>
        </p:nvSpPr>
        <p:spPr>
          <a:xfrm>
            <a:off x="502920" y="6519672"/>
            <a:ext cx="6172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710"/>
              <a:buFont typeface="Arial"/>
              <a:buNone/>
            </a:pPr>
            <a:r>
              <a:rPr lang="en-US" sz="710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Fuentes operativas validadas: DIGEMID/OPPF + Indicador de Precios Farmacéuticos.</a:t>
            </a:r>
            <a:endParaRPr sz="7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7315200" y="6519672"/>
            <a:ext cx="3886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77A"/>
              </a:buClr>
              <a:buSzPts val="710"/>
              <a:buFont typeface="Arial"/>
              <a:buNone/>
            </a:pPr>
            <a:r>
              <a:rPr lang="en-US" sz="710">
                <a:solidFill>
                  <a:srgbClr val="5B677A"/>
                </a:solidFill>
                <a:latin typeface="Arial"/>
                <a:ea typeface="Arial"/>
                <a:cs typeface="Arial"/>
                <a:sym typeface="Arial"/>
              </a:rPr>
              <a:t>Se excluyeron referencias anteriores a 2020.</a:t>
            </a:r>
            <a:endParaRPr sz="7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4"/>
          <p:cNvSpPr txBox="1"/>
          <p:nvPr>
            <p:ph idx="4294967295" type="sldNum"/>
          </p:nvPr>
        </p:nvSpPr>
        <p:spPr>
          <a:xfrm>
            <a:off x="11475720" y="6519672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62708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rgbClr val="6270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4"/>
          <p:cNvSpPr txBox="1"/>
          <p:nvPr/>
        </p:nvSpPr>
        <p:spPr>
          <a:xfrm>
            <a:off x="609600" y="539083"/>
            <a:ext cx="109728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2ABA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PROPUESTA </a:t>
            </a:r>
            <a:r>
              <a:rPr lang="en-US" sz="950">
                <a:solidFill>
                  <a:srgbClr val="82ABA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3</a:t>
            </a:r>
            <a:r>
              <a:rPr b="0" i="0" lang="en-US" sz="950" u="none" cap="none" strike="noStrike">
                <a:solidFill>
                  <a:srgbClr val="82ABA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